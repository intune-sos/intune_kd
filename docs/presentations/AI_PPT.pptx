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8" r:id="rId8"/>
    <p:sldId id="260" r:id="rId9"/>
    <p:sldId id="269" r:id="rId10"/>
    <p:sldId id="262" r:id="rId11"/>
    <p:sldId id="26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K0297/Intun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5523" y="507608"/>
            <a:ext cx="8740954" cy="7135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lang="en-US" sz="4400" b="1" dirty="0">
                <a:solidFill>
                  <a:srgbClr val="1A237E"/>
                </a:solidFill>
              </a:rPr>
              <a:t>SELF-IMPROVING LLM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0473" y="1169673"/>
            <a:ext cx="952476" cy="381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988" y="1626576"/>
            <a:ext cx="11897032" cy="14573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self-improving LLM framework implements an autonomous learning cycle where the model continuously evaluates its own outputs, identifies weaknesses through structured feedback mechanisms, and refines its responses using iterative self-correction techniques. This framework enables dynamic knowledge enhancement and adaptive reasoning capabilities, allowing the LLM to progressively improve accuracy and performance without requiring constant human supervision.</a:t>
            </a:r>
            <a:endParaRPr sz="200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6711" y="3834393"/>
            <a:ext cx="147797" cy="3131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315" b="1" dirty="0">
              <a:solidFill>
                <a:srgbClr val="37474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26711" y="4191225"/>
            <a:ext cx="147797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196" b="0" dirty="0">
              <a:solidFill>
                <a:srgbClr val="546E7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6711" y="4524307"/>
            <a:ext cx="147797" cy="276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endParaRPr sz="1076" b="0" dirty="0">
              <a:solidFill>
                <a:srgbClr val="607D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26711" y="4838632"/>
            <a:ext cx="147797" cy="276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076" b="0" dirty="0">
              <a:solidFill>
                <a:srgbClr val="607D8B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FC24B20-D698-0E42-5705-1834704F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81267"/>
              </p:ext>
            </p:extLst>
          </p:nvPr>
        </p:nvGraphicFramePr>
        <p:xfrm>
          <a:off x="232696" y="348933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45145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29628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380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Radhakrishna Bharuka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24bds063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93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Abhang Pawar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24bds054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6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Nilesh Dwivedi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24bds048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82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Rushikesh Masalkar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24bds040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31209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AFC3986-5FF3-2721-E0A0-975685114D9D}"/>
              </a:ext>
            </a:extLst>
          </p:cNvPr>
          <p:cNvSpPr txBox="1"/>
          <p:nvPr/>
        </p:nvSpPr>
        <p:spPr>
          <a:xfrm>
            <a:off x="232696" y="5616303"/>
            <a:ext cx="63366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IIIT DHARWAD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ARTIFICIAL INTELLIGENCE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DR. ANIMESH CHATURVEDI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E7637-F2F5-35AE-6F01-990AC5B2BBD3}"/>
              </a:ext>
            </a:extLst>
          </p:cNvPr>
          <p:cNvSpPr txBox="1"/>
          <p:nvPr/>
        </p:nvSpPr>
        <p:spPr>
          <a:xfrm>
            <a:off x="176980" y="3083898"/>
            <a:ext cx="3301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repo: </a:t>
            </a:r>
            <a:r>
              <a:rPr lang="en-IN" sz="2000" dirty="0">
                <a:hlinkClick r:id="rId2"/>
              </a:rPr>
              <a:t>RK0297/Intune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79667"/>
            <a:ext cx="1434945" cy="47891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 dirty="0">
                <a:solidFill>
                  <a:srgbClr val="1A237E"/>
                </a:solidFill>
              </a:rPr>
              <a:t> </a:t>
            </a:r>
            <a:r>
              <a:rPr sz="1104" dirty="0"/>
              <a:t>  </a:t>
            </a:r>
            <a:r>
              <a:rPr lang="en-US" sz="2392" b="1" dirty="0">
                <a:solidFill>
                  <a:srgbClr val="1A237E"/>
                </a:solidFill>
              </a:rPr>
              <a:t>  </a:t>
            </a:r>
            <a:r>
              <a:rPr lang="en-IN" sz="2392" b="1" dirty="0">
                <a:solidFill>
                  <a:srgbClr val="1A237E"/>
                </a:solidFill>
              </a:rPr>
              <a:t>Outline</a:t>
            </a:r>
            <a:r>
              <a:rPr sz="2392" b="1" dirty="0">
                <a:solidFill>
                  <a:srgbClr val="1A237E"/>
                </a:solidFill>
              </a:rPr>
              <a:t>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506795"/>
            <a:ext cx="342891" cy="2246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06628" y="1144333"/>
            <a:ext cx="10687518" cy="5123502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2476" y="14287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1352812"/>
            <a:ext cx="3087833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spcAft>
                <a:spcPts val="520"/>
              </a:spcAft>
            </a:pPr>
            <a:r>
              <a:rPr lang="en-IN"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38" y="1782903"/>
            <a:ext cx="4118217" cy="11395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8719" y="1428750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580" y="1352811"/>
            <a:ext cx="167424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192" y="1895019"/>
            <a:ext cx="1994392" cy="934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0185" y="3114675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6804" y="3059430"/>
            <a:ext cx="158389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4205" y="3546061"/>
            <a:ext cx="2286139" cy="11395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Design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8719" y="3114675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F51B5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281" y="3050367"/>
            <a:ext cx="248170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lang="en-IN"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0380" y="3620138"/>
            <a:ext cx="2442679" cy="72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esults &amp; Analysis</a:t>
            </a: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4781" y="4884684"/>
            <a:ext cx="3809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3F51B5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5965" y="4846846"/>
            <a:ext cx="1436547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20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6660" y="5333477"/>
            <a:ext cx="1705852" cy="9343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br>
              <a:rPr lang="en-US" b="0" dirty="0">
                <a:solidFill>
                  <a:srgbClr val="546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solidFill>
                <a:srgbClr val="546E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0719" y="312681"/>
            <a:ext cx="4273799" cy="10623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3747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Motivation</a:t>
            </a:r>
          </a:p>
          <a:p>
            <a:pPr algn="l">
              <a:spcBef>
                <a:spcPts val="0"/>
              </a:spcBef>
              <a:spcAft>
                <a:spcPts val="650"/>
              </a:spcAft>
            </a:pPr>
            <a:endParaRPr sz="2800" b="1" dirty="0">
              <a:solidFill>
                <a:srgbClr val="1A237E"/>
              </a:solidFill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935" y="409397"/>
            <a:ext cx="419689" cy="3545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143000"/>
            <a:ext cx="10858228" cy="5334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476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362734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50461" y="1696017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906" y="1839261"/>
            <a:ext cx="195204" cy="158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17205" y="1627548"/>
            <a:ext cx="2409084" cy="72635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443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 LLM deployment</a:t>
            </a:r>
            <a:endParaRPr sz="2000" b="1" dirty="0">
              <a:solidFill>
                <a:srgbClr val="F4433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0280" y="2381723"/>
            <a:ext cx="3001565" cy="3711785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models require manual retraining with expert oversight.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quality assessment mechanisms in typical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feedback integration from production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continuous human evaluation for quality assurance.</a:t>
            </a:r>
          </a:p>
          <a:p>
            <a:pPr marL="285750" indent="-285750" algn="l">
              <a:spcBef>
                <a:spcPts val="0"/>
              </a:spcBef>
              <a:spcAft>
                <a:spcPts val="975"/>
              </a:spcAft>
              <a:buFont typeface="Arial" panose="020B0604020202020204" pitchFamily="34" charset="0"/>
              <a:buChar char="•"/>
            </a:pPr>
            <a:endParaRPr lang="en-IN"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57588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142378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33806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628" y="18078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0044" y="1709177"/>
            <a:ext cx="168841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98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4437" y="2590710"/>
            <a:ext cx="3110144" cy="249234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 autonomous improvement frameworks.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metric computation creates scaling bottlenecks.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 leverage user interactions for iterative LLM refinement.</a:t>
            </a:r>
          </a:p>
          <a:p>
            <a:pPr marL="171450" indent="-171450" algn="l">
              <a:spcBef>
                <a:spcPts val="0"/>
              </a:spcBef>
              <a:spcAft>
                <a:spcPts val="975"/>
              </a:spcAft>
              <a:buFont typeface="Arial" panose="020B0604020202020204" pitchFamily="34" charset="0"/>
              <a:buChar char="•"/>
            </a:pPr>
            <a:endParaRPr sz="1076"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972225" y="1428750"/>
            <a:ext cx="3266993" cy="4762500"/>
          </a:xfrm>
          <a:prstGeom prst="roundRect">
            <a:avLst>
              <a:gd name="adj" fmla="val 58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657015" y="3743960"/>
            <a:ext cx="4762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48443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2265" y="1819275"/>
            <a:ext cx="228594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3034" y="1695710"/>
            <a:ext cx="215488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000" b="1" dirty="0">
                <a:solidFill>
                  <a:srgbClr val="4C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roject Objectives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393" y="2428873"/>
            <a:ext cx="2752656" cy="286027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autonomous evaluation pipeline.</a:t>
            </a:r>
          </a:p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self-correcting feedback loops.</a:t>
            </a:r>
          </a:p>
          <a:p>
            <a:pPr marL="171450" indent="-171450">
              <a:spcAft>
                <a:spcPts val="975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measurable quality improvements without manual intervention </a:t>
            </a:r>
            <a:endParaRPr b="0" dirty="0">
              <a:solidFill>
                <a:srgbClr val="455A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0A684-3575-FD38-2537-463B07F94CE6}"/>
              </a:ext>
            </a:extLst>
          </p:cNvPr>
          <p:cNvSpPr txBox="1"/>
          <p:nvPr/>
        </p:nvSpPr>
        <p:spPr>
          <a:xfrm>
            <a:off x="20320" y="58846"/>
            <a:ext cx="1217168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self-improving frameworks leaned on expert-in-the-loop or feedback loops, enhancing model reliability without manual fine-tuning (e.g., 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CriteriaLLM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clinical data, PubMed 2025).​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self-correction through LLMs acting as their own evaluators has gained traction: “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(Self-Taught Reasoner) and 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chain-of-thought prompting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models enhance their reasoning by learning from generated intermediate steps, progressively reducing complexity and error.​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frameworks (e.g., OpenAI o1, DeepSeek-R1) enable iterative self-correction with minimal human intervention, refining outputs on progressively challenging tasks.​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methods (mixing intrinsic and external self-correction) improve accuracy but may reduce efficiency; still, diverse correction strategies continue to outperform traditional static approaches.​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theoretical work, like “</a:t>
            </a: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Sharpening Mechanisms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analyzes the internal dynamics of LLM self-improvement to optimize improvements without retraining.​</a:t>
            </a:r>
          </a:p>
          <a:p>
            <a:br>
              <a:rPr lang="en-US" sz="1700" dirty="0"/>
            </a:br>
            <a:endParaRPr lang="en-US" sz="1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515B4-203F-B2CD-428E-040DB7B946A4}"/>
              </a:ext>
            </a:extLst>
          </p:cNvPr>
          <p:cNvSpPr txBox="1"/>
          <p:nvPr/>
        </p:nvSpPr>
        <p:spPr>
          <a:xfrm>
            <a:off x="-10160" y="3769361"/>
            <a:ext cx="12202160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(2025)</a:t>
            </a:r>
          </a:p>
          <a:p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LADDER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recursive problem decomposition—LLMs generate easier variants of hard problems, learn through self-verification and reinforcement, achieving &gt;80% improvement on math tasks without extra supervision.​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CorrectBench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Benchmarks self-correction methods, showing that flexible frameworks—combining intrinsic, external, and fine-tuned modules—significantly improve LLM reasoning, especially for complex cognitive tasks.​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GPT-4.5/GPT-4o and DeepSeek-R1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Industry-leading models employing self-improvement pipelines, often using internal feedback, dynamic test-time adaptation, and advanced CoT reasoning for “live” model improvement.​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SLD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(Self-correcting LLM-controlled Diffusion): Closed-loop architectures using detectors and LLMs to repeatedly auto-correct outputs (especially in generative and image-aligned tasks).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42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34049" y="0"/>
            <a:ext cx="3614323" cy="10623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5" name="Picture 24" descr="A diagram of a process">
            <a:extLst>
              <a:ext uri="{FF2B5EF4-FFF2-40B4-BE49-F238E27FC236}">
                <a16:creationId xmlns:a16="http://schemas.microsoft.com/office/drawing/2014/main" id="{DD4737F0-46C7-AA87-0BC6-6D25528DF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28" y="907090"/>
            <a:ext cx="9186172" cy="53311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31029D7-3CBC-1F8A-A3DC-568E56E5CBD9}"/>
              </a:ext>
            </a:extLst>
          </p:cNvPr>
          <p:cNvSpPr txBox="1"/>
          <p:nvPr/>
        </p:nvSpPr>
        <p:spPr>
          <a:xfrm>
            <a:off x="71120" y="721314"/>
            <a:ext cx="3070478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## Tech Stack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 (API framework)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(Deep learning)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(Model architectures)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Unsloth (Efficient training)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/ Vue.js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(Styling)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(Supabase)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JSONB (Flexible data storage)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 (LLM serving)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(Version control)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flowchart">
            <a:extLst>
              <a:ext uri="{FF2B5EF4-FFF2-40B4-BE49-F238E27FC236}">
                <a16:creationId xmlns:a16="http://schemas.microsoft.com/office/drawing/2014/main" id="{C2EB55EE-D7B2-E298-0D00-165A264B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1012752"/>
            <a:ext cx="12192000" cy="55302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0D4A61-00AC-50FB-6F0A-7211FF185204}"/>
              </a:ext>
            </a:extLst>
          </p:cNvPr>
          <p:cNvSpPr txBox="1"/>
          <p:nvPr/>
        </p:nvSpPr>
        <p:spPr>
          <a:xfrm>
            <a:off x="10160" y="233680"/>
            <a:ext cx="4664482" cy="1043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Autonomous Learning Cycle</a:t>
            </a:r>
          </a:p>
          <a:p>
            <a:pPr>
              <a:spcAft>
                <a:spcPts val="650"/>
              </a:spcAft>
            </a:pPr>
            <a:r>
              <a:rPr lang="en-IN" sz="28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25E3FB-2D21-9DC5-D27B-37F93B84F38B}"/>
              </a:ext>
            </a:extLst>
          </p:cNvPr>
          <p:cNvSpPr txBox="1"/>
          <p:nvPr/>
        </p:nvSpPr>
        <p:spPr>
          <a:xfrm>
            <a:off x="0" y="0"/>
            <a:ext cx="378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US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raining Pipeline -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BF8A94-D572-C76D-1CD0-BC718ECD4B75}"/>
                  </a:ext>
                </a:extLst>
              </p:cNvPr>
              <p:cNvSpPr txBox="1"/>
              <p:nvPr/>
            </p:nvSpPr>
            <p:spPr>
              <a:xfrm>
                <a:off x="193040" y="3849051"/>
                <a:ext cx="3849546" cy="285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## Mathematical Formulation</a:t>
                </a: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Improved Model:</a:t>
                </a:r>
                <a:b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improved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base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LoRA</m:t>
                          </m:r>
                        </m:sub>
                      </m:sSub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LoRA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𝐵𝐴</m:t>
                      </m:r>
                    </m:oMath>
                  </m:oMathPara>
                </a14:m>
                <a:endParaRPr lang="ar-AE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BF8A94-D572-C76D-1CD0-BC718ECD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40" y="3849051"/>
                <a:ext cx="3849546" cy="2855910"/>
              </a:xfrm>
              <a:prstGeom prst="rect">
                <a:avLst/>
              </a:prstGeom>
              <a:blipFill>
                <a:blip r:embed="rId2"/>
                <a:stretch>
                  <a:fillRect l="-1426" t="-1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0BC32-FAD0-4DE1-60C4-BF9C9E15F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331827"/>
              </p:ext>
            </p:extLst>
          </p:nvPr>
        </p:nvGraphicFramePr>
        <p:xfrm>
          <a:off x="4968240" y="605093"/>
          <a:ext cx="7223760" cy="62179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1343286287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1000851463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438881217"/>
                    </a:ext>
                  </a:extLst>
                </a:gridCol>
              </a:tblGrid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391750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Gemma 3:1B Instruct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instruction-tuned 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405686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4-bit (NF4)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VRAM from 4GB to 1GB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055371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Rank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 between capacity and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40715"/>
                  </a:ext>
                </a:extLst>
              </a:tr>
              <a:tr h="578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Scaling factor = 2 × rank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032430"/>
                  </a:ext>
                </a:extLst>
              </a:tr>
              <a:tr h="88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q_proj, k_proj, v_proj, o_proj, gate_proj, up_proj, down_proj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attention and FFN layers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510635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2×10⁻⁴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for LoRA fine-tuning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47473"/>
                  </a:ext>
                </a:extLst>
              </a:tr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Fits in 8GB VRAM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732296"/>
                  </a:ext>
                </a:extLst>
              </a:tr>
              <a:tr h="578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 Accumulation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batch size =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779147"/>
                  </a:ext>
                </a:extLst>
              </a:tr>
              <a:tr h="35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8458"/>
                  </a:ext>
                </a:extLst>
              </a:tr>
              <a:tr h="621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Sequence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for instruction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6773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FD9B4D-A22C-21CA-F6FE-7E44DB0B2FCE}"/>
              </a:ext>
            </a:extLst>
          </p:cNvPr>
          <p:cNvSpPr txBox="1"/>
          <p:nvPr/>
        </p:nvSpPr>
        <p:spPr>
          <a:xfrm>
            <a:off x="6509912" y="55305"/>
            <a:ext cx="3784819" cy="1379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IN" sz="24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Fine Tuning Configuration</a:t>
            </a:r>
          </a:p>
          <a:p>
            <a:pPr>
              <a:spcAft>
                <a:spcPts val="650"/>
              </a:spcAft>
            </a:pPr>
            <a:r>
              <a:rPr lang="en-IN" sz="24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91620-9329-DE9F-9A16-A6D50E027E66}"/>
              </a:ext>
            </a:extLst>
          </p:cNvPr>
          <p:cNvSpPr txBox="1"/>
          <p:nvPr/>
        </p:nvSpPr>
        <p:spPr>
          <a:xfrm>
            <a:off x="0" y="698499"/>
            <a:ext cx="39353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→ Model Loading → LoRA Application → Training Loop → Merging → Deployment</a:t>
            </a:r>
          </a:p>
          <a:p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## Key Code Implementation 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(finetune.py)</a:t>
            </a:r>
            <a:b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Unsloth for faster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BitsAndBytes for 4-bit quantization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PEFT library for LoRA adapters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Gemma-style chat template formatting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1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5208E9BB-D0C5-4446-6E5D-E0552F47BC83}"/>
              </a:ext>
            </a:extLst>
          </p:cNvPr>
          <p:cNvSpPr txBox="1"/>
          <p:nvPr/>
        </p:nvSpPr>
        <p:spPr>
          <a:xfrm>
            <a:off x="0" y="0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50"/>
              </a:spcAft>
            </a:pPr>
            <a:r>
              <a:rPr lang="en-US" sz="28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IN" sz="28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78A7F8-8346-A91C-135C-F2FD2216DB10}"/>
              </a:ext>
            </a:extLst>
          </p:cNvPr>
          <p:cNvSpPr txBox="1"/>
          <p:nvPr/>
        </p:nvSpPr>
        <p:spPr>
          <a:xfrm>
            <a:off x="223520" y="761275"/>
            <a:ext cx="904388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## Data Flow Architecture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 →  Supabase (intune_db) →   Worker Processing →  Metrics Storage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Picture 72" descr="A diagram of a system&#10;&#10;AI-generated content may be incorrect.">
            <a:extLst>
              <a:ext uri="{FF2B5EF4-FFF2-40B4-BE49-F238E27FC236}">
                <a16:creationId xmlns:a16="http://schemas.microsoft.com/office/drawing/2014/main" id="{17E264BF-C3C4-6BBF-43CA-F5353C0CE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059" y="1813328"/>
            <a:ext cx="7400044" cy="2450438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FCD2CDD-018F-26FF-94C4-ED75301C91E5}"/>
              </a:ext>
            </a:extLst>
          </p:cNvPr>
          <p:cNvSpPr txBox="1"/>
          <p:nvPr/>
        </p:nvSpPr>
        <p:spPr>
          <a:xfrm>
            <a:off x="30480" y="4794680"/>
            <a:ext cx="2966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b="1" dirty="0"/>
              <a:t>Worker 1 — Base Evaluation</a:t>
            </a:r>
            <a:br>
              <a:rPr lang="en-IN" dirty="0"/>
            </a:br>
            <a:r>
              <a:rPr lang="en-IN" dirty="0"/>
              <a:t>• Computes base metrics</a:t>
            </a:r>
            <a:br>
              <a:rPr lang="en-IN" dirty="0"/>
            </a:br>
            <a:r>
              <a:rPr lang="en-IN" dirty="0"/>
              <a:t>• Updates status_eval_first</a:t>
            </a:r>
          </a:p>
          <a:p>
            <a:r>
              <a:rPr lang="en-IN" b="1" dirty="0"/>
              <a:t> </a:t>
            </a:r>
            <a:endParaRPr lang="en-IN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360B98-A239-3473-4C47-43C4DE753024}"/>
              </a:ext>
            </a:extLst>
          </p:cNvPr>
          <p:cNvSpPr txBox="1"/>
          <p:nvPr/>
        </p:nvSpPr>
        <p:spPr>
          <a:xfrm>
            <a:off x="2976880" y="4971652"/>
            <a:ext cx="3799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Worker 2 — Fine-Tuning</a:t>
            </a:r>
            <a:br>
              <a:rPr lang="en-IN" dirty="0"/>
            </a:br>
            <a:r>
              <a:rPr lang="en-IN" dirty="0"/>
              <a:t>• Runs LoRA fine-tuning</a:t>
            </a:r>
            <a:br>
              <a:rPr lang="en-IN" dirty="0"/>
            </a:br>
            <a:r>
              <a:rPr lang="en-IN" dirty="0"/>
              <a:t>• Generates tuned outputs</a:t>
            </a:r>
            <a:br>
              <a:rPr lang="en-IN" dirty="0"/>
            </a:br>
            <a:r>
              <a:rPr lang="en-IN" dirty="0"/>
              <a:t>• Stores tuned metrics</a:t>
            </a:r>
            <a:br>
              <a:rPr lang="en-IN" dirty="0"/>
            </a:br>
            <a:r>
              <a:rPr lang="en-IN" dirty="0"/>
              <a:t>• Updates status_eval_final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EB00BA-B014-2DEE-6FAD-E38004304547}"/>
              </a:ext>
            </a:extLst>
          </p:cNvPr>
          <p:cNvSpPr txBox="1"/>
          <p:nvPr/>
        </p:nvSpPr>
        <p:spPr>
          <a:xfrm>
            <a:off x="1625057" y="4440737"/>
            <a:ext cx="3120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## Worker Responsibilities</a:t>
            </a:r>
          </a:p>
          <a:p>
            <a:endParaRPr lang="en-IN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AE638C-61C1-A263-61B5-5504C437220D}"/>
              </a:ext>
            </a:extLst>
          </p:cNvPr>
          <p:cNvSpPr txBox="1"/>
          <p:nvPr/>
        </p:nvSpPr>
        <p:spPr>
          <a:xfrm>
            <a:off x="6258560" y="4694654"/>
            <a:ext cx="561756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## Pipeline Summary</a:t>
            </a:r>
            <a:br>
              <a:rPr lang="en-US" b="1" dirty="0"/>
            </a:br>
            <a:endParaRPr lang="en-US" b="1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Supabase acts as the central data hub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Workers continuously read → process → update records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accumulates until threshold → fine-tuning triggers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continuous self-improvement of the model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12E4A-F1C9-4678-5B6B-750E593870B3}"/>
              </a:ext>
            </a:extLst>
          </p:cNvPr>
          <p:cNvSpPr txBox="1"/>
          <p:nvPr/>
        </p:nvSpPr>
        <p:spPr>
          <a:xfrm>
            <a:off x="4611329" y="1873118"/>
            <a:ext cx="2502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E1B8DC-19B9-6B92-A4FE-0E8FBF68C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91232"/>
              </p:ext>
            </p:extLst>
          </p:nvPr>
        </p:nvGraphicFramePr>
        <p:xfrm>
          <a:off x="629920" y="912706"/>
          <a:ext cx="10708641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030">
                  <a:extLst>
                    <a:ext uri="{9D8B030D-6E8A-4147-A177-3AD203B41FA5}">
                      <a16:colId xmlns:a16="http://schemas.microsoft.com/office/drawing/2014/main" val="327066302"/>
                    </a:ext>
                  </a:extLst>
                </a:gridCol>
                <a:gridCol w="2474788">
                  <a:extLst>
                    <a:ext uri="{9D8B030D-6E8A-4147-A177-3AD203B41FA5}">
                      <a16:colId xmlns:a16="http://schemas.microsoft.com/office/drawing/2014/main" val="1336964144"/>
                    </a:ext>
                  </a:extLst>
                </a:gridCol>
                <a:gridCol w="1481908">
                  <a:extLst>
                    <a:ext uri="{9D8B030D-6E8A-4147-A177-3AD203B41FA5}">
                      <a16:colId xmlns:a16="http://schemas.microsoft.com/office/drawing/2014/main" val="1270085283"/>
                    </a:ext>
                  </a:extLst>
                </a:gridCol>
                <a:gridCol w="2984192">
                  <a:extLst>
                    <a:ext uri="{9D8B030D-6E8A-4147-A177-3AD203B41FA5}">
                      <a16:colId xmlns:a16="http://schemas.microsoft.com/office/drawing/2014/main" val="517652406"/>
                    </a:ext>
                  </a:extLst>
                </a:gridCol>
                <a:gridCol w="989174">
                  <a:extLst>
                    <a:ext uri="{9D8B030D-6E8A-4147-A177-3AD203B41FA5}">
                      <a16:colId xmlns:a16="http://schemas.microsoft.com/office/drawing/2014/main" val="1667976325"/>
                    </a:ext>
                  </a:extLst>
                </a:gridCol>
                <a:gridCol w="2289549">
                  <a:extLst>
                    <a:ext uri="{9D8B030D-6E8A-4147-A177-3AD203B41FA5}">
                      <a16:colId xmlns:a16="http://schemas.microsoft.com/office/drawing/2014/main" val="3745964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#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Formula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Range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2993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Relevancy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cos(Q, A)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 similarity to question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184748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Precision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|A ∩ C| / |A|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% of answer supported by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24056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Recall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|A ∩ C| / |C|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% of context covered in answer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04537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Contextual Relevancy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cos(C, A)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similarity to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5870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Faithfulness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Positive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0.6·cos(A, E) + 0.4·cos(A, C)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Agreement with reference + context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54362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Toxicity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toxic_tokens / total_tokens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Harmful language presence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93491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Hallucination Rate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Negative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1 − Contextual Precision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Fabricated or unsupported info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50997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Score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Aggregate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P̄ × (1 − N̄)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[0, 1]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Combined weighted score</a:t>
                      </a:r>
                    </a:p>
                  </a:txBody>
                  <a:tcPr anchor="ctr">
                    <a:pattFill prst="pct5">
                      <a:fgClr>
                        <a:schemeClr val="tx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85092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ACED01D-043D-D1CB-EC86-72961F92FC62}"/>
              </a:ext>
            </a:extLst>
          </p:cNvPr>
          <p:cNvSpPr txBox="1"/>
          <p:nvPr/>
        </p:nvSpPr>
        <p:spPr>
          <a:xfrm>
            <a:off x="3098800" y="162560"/>
            <a:ext cx="52466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Metrics Specifications Table</a:t>
            </a:r>
            <a:r>
              <a:rPr lang="en-IN" sz="3200" b="1" dirty="0">
                <a:solidFill>
                  <a:srgbClr val="1A237E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17519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178" y="403714"/>
            <a:ext cx="323736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b="1" dirty="0">
                <a:solidFill>
                  <a:srgbClr val="1A23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Analysis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29114"/>
            <a:ext cx="492629" cy="365233"/>
          </a:xfrm>
          <a:prstGeom prst="rect">
            <a:avLst/>
          </a:prstGeom>
        </p:spPr>
      </p:pic>
      <p:pic>
        <p:nvPicPr>
          <p:cNvPr id="33" name="Picture 32" descr="A table with numbers and text">
            <a:extLst>
              <a:ext uri="{FF2B5EF4-FFF2-40B4-BE49-F238E27FC236}">
                <a16:creationId xmlns:a16="http://schemas.microsoft.com/office/drawing/2014/main" id="{32A72DDB-8CA8-CD69-4097-FEB3D0A2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94" y="1071880"/>
            <a:ext cx="5430008" cy="2934109"/>
          </a:xfrm>
          <a:prstGeom prst="rect">
            <a:avLst/>
          </a:prstGeom>
        </p:spPr>
      </p:pic>
      <p:pic>
        <p:nvPicPr>
          <p:cNvPr id="35" name="Picture 34" descr="A table of progress bar">
            <a:extLst>
              <a:ext uri="{FF2B5EF4-FFF2-40B4-BE49-F238E27FC236}">
                <a16:creationId xmlns:a16="http://schemas.microsoft.com/office/drawing/2014/main" id="{68FCF456-7443-3E60-CC5F-702CB3E05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5" y="4339617"/>
            <a:ext cx="5430008" cy="2015463"/>
          </a:xfrm>
          <a:prstGeom prst="rect">
            <a:avLst/>
          </a:prstGeom>
        </p:spPr>
      </p:pic>
      <p:sp>
        <p:nvSpPr>
          <p:cNvPr id="41" name="Rectangle 5">
            <a:extLst>
              <a:ext uri="{FF2B5EF4-FFF2-40B4-BE49-F238E27FC236}">
                <a16:creationId xmlns:a16="http://schemas.microsoft.com/office/drawing/2014/main" id="{FF4C345C-93F1-5418-4468-743085A1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707" y="379385"/>
            <a:ext cx="5724173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Precision: Major Win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Massive +92-110% improvement; strongest correlation (0.83) with overall performance; primary success driver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Hallucination: Successfully Reduced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Decreased by ~22% (lower is better); strong negative correlation (-0.83) confirms reduced hallucinations boost overall performance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Toxicity: Safety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Degraded +29.51%, indicating potential weakening of safety guardrails during fine-tuning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Relevance &amp; Faithfulness: Marginal Gains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Modest improvements (8-9% and &lt;1% respectively); minor contributors to overall +22% performance boost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Win-Win on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Model improved both contextual precision AND factual correctness (reduced hallucinations)—achieving better structure and truthfulness simultaneously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F5F5">
                <a:alpha val="98000"/>
              </a:srgbClr>
            </a:gs>
            <a:gs pos="100000">
              <a:srgbClr val="EBF5FA">
                <a:alpha val="98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608A8D-7947-1D9C-8FD9-77C1D55A868B}"/>
              </a:ext>
            </a:extLst>
          </p:cNvPr>
          <p:cNvSpPr txBox="1"/>
          <p:nvPr/>
        </p:nvSpPr>
        <p:spPr>
          <a:xfrm>
            <a:off x="88490" y="245807"/>
            <a:ext cx="1177904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Fine-tuning significantly improved context-grounded reasoning, precision, and factual correctness.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hallucination to demonstrate more reliable model behavior.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Minor drops in recall and answer relevancy indicate a precision-over-breadth trade-off typical of tightly grounded models.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 with a relatively small dataset (~4K samples), the system achieved strong improvements, showing efficiency and stability of the training loop.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Takeaways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Autonomous LLM self-improvement is feasible, efficient, and scalable.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Offline evaluation pipelines can replace costly human-in-the-loop validation.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Lightweight LoRA tuning provides meaningful gains even on limited hardware.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 more data is added to the system, the model is expected to scale further, improving accuracy, robustness, and generalization.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F1177-3577-63AE-1D7C-1150CC90DA54}"/>
              </a:ext>
            </a:extLst>
          </p:cNvPr>
          <p:cNvSpPr txBox="1"/>
          <p:nvPr/>
        </p:nvSpPr>
        <p:spPr>
          <a:xfrm>
            <a:off x="127820" y="294967"/>
            <a:ext cx="115627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and validated a fully autonomous, self-improving LLM pipeline.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clear gains in overall quality (+22%), contextual precision (+92–110%), and reduced hallucination (−22%).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that the modular architecture is efficient, scalable, and deployable.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improvements were achieved with only ~4K samples, indicating high data efficiency and strong scaling potential.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framework establishes a practical foundation for continuous, automated LLM refinement.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4D1986A6-1197-0956-A411-A6472D283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271" y="3087329"/>
            <a:ext cx="7234313" cy="34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9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F4D4735-9522-480C-831A-15225EB8446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726</TotalTime>
  <Words>1433</Words>
  <Application>Microsoft Office PowerPoint</Application>
  <PresentationFormat>Widescreen</PresentationFormat>
  <Paragraphs>213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RK BHARUKA</cp:lastModifiedBy>
  <cp:revision>6</cp:revision>
  <dcterms:created xsi:type="dcterms:W3CDTF">2013-01-27T09:14:16Z</dcterms:created>
  <dcterms:modified xsi:type="dcterms:W3CDTF">2025-11-16T15:19:37Z</dcterms:modified>
  <cp:category/>
</cp:coreProperties>
</file>